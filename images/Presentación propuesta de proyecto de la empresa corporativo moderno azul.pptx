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x="18288000" cy="10287000"/>
  <p:notesSz cx="6858000" cy="9144000"/>
  <p:embeddedFontLst>
    <p:embeddedFont>
      <p:font typeface="DM Sans Italics" charset="1" panose="00000000000000000000"/>
      <p:regular r:id="rId17"/>
    </p:embeddedFont>
    <p:embeddedFont>
      <p:font typeface="Poppins" charset="1" panose="00000500000000000000"/>
      <p:regular r:id="rId18"/>
    </p:embeddedFont>
    <p:embeddedFont>
      <p:font typeface="Poppins Bold" charset="1" panose="00000800000000000000"/>
      <p:regular r:id="rId19"/>
    </p:embeddedFont>
    <p:embeddedFont>
      <p:font typeface="DM Sans Bold" charset="1" panose="00000000000000000000"/>
      <p:regular r:id="rId20"/>
    </p:embeddedFont>
    <p:embeddedFont>
      <p:font typeface="DM Sans" charset="1" panose="000000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jpeg" Type="http://schemas.openxmlformats.org/officeDocument/2006/relationships/image"/><Relationship Id="rId3" Target="../media/image1.png" Type="http://schemas.openxmlformats.org/officeDocument/2006/relationships/image"/><Relationship Id="rId4" Target="../media/image2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12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3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24.png" Type="http://schemas.openxmlformats.org/officeDocument/2006/relationships/image"/><Relationship Id="rId11" Target="../media/image25.svg" Type="http://schemas.openxmlformats.org/officeDocument/2006/relationships/image"/><Relationship Id="rId12" Target="../media/image26.png" Type="http://schemas.openxmlformats.org/officeDocument/2006/relationships/image"/><Relationship Id="rId2" Target="../media/image18.jpeg" Type="http://schemas.openxmlformats.org/officeDocument/2006/relationships/image"/><Relationship Id="rId3" Target="../media/image16.png" Type="http://schemas.openxmlformats.org/officeDocument/2006/relationships/image"/><Relationship Id="rId4" Target="../media/image17.svg" Type="http://schemas.openxmlformats.org/officeDocument/2006/relationships/image"/><Relationship Id="rId5" Target="../media/image19.png" Type="http://schemas.openxmlformats.org/officeDocument/2006/relationships/image"/><Relationship Id="rId6" Target="../media/image20.png" Type="http://schemas.openxmlformats.org/officeDocument/2006/relationships/image"/><Relationship Id="rId7" Target="../media/image21.svg" Type="http://schemas.openxmlformats.org/officeDocument/2006/relationships/image"/><Relationship Id="rId8" Target="../media/image22.png" Type="http://schemas.openxmlformats.org/officeDocument/2006/relationships/image"/><Relationship Id="rId9" Target="../media/image23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34.jpeg" Type="http://schemas.openxmlformats.org/officeDocument/2006/relationships/image"/><Relationship Id="rId11" Target="../media/image35.png" Type="http://schemas.openxmlformats.org/officeDocument/2006/relationships/image"/><Relationship Id="rId12" Target="../media/image36.svg" Type="http://schemas.openxmlformats.org/officeDocument/2006/relationships/image"/><Relationship Id="rId13" Target="../media/image37.png" Type="http://schemas.openxmlformats.org/officeDocument/2006/relationships/image"/><Relationship Id="rId14" Target="../media/image38.svg" Type="http://schemas.openxmlformats.org/officeDocument/2006/relationships/image"/><Relationship Id="rId2" Target="../media/image27.png" Type="http://schemas.openxmlformats.org/officeDocument/2006/relationships/image"/><Relationship Id="rId3" Target="../media/image28.svg" Type="http://schemas.openxmlformats.org/officeDocument/2006/relationships/image"/><Relationship Id="rId4" Target="../media/image11.png" Type="http://schemas.openxmlformats.org/officeDocument/2006/relationships/image"/><Relationship Id="rId5" Target="../media/image29.png" Type="http://schemas.openxmlformats.org/officeDocument/2006/relationships/image"/><Relationship Id="rId6" Target="../media/image30.svg" Type="http://schemas.openxmlformats.org/officeDocument/2006/relationships/image"/><Relationship Id="rId7" Target="../media/image31.png" Type="http://schemas.openxmlformats.org/officeDocument/2006/relationships/image"/><Relationship Id="rId8" Target="../media/image32.png" Type="http://schemas.openxmlformats.org/officeDocument/2006/relationships/image"/><Relationship Id="rId9" Target="../media/image33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Relationship Id="rId3" Target="../media/image6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Relationship Id="rId6" Target="../media/image9.png" Type="http://schemas.openxmlformats.org/officeDocument/2006/relationships/image"/><Relationship Id="rId7" Target="../media/image10.svg" Type="http://schemas.openxmlformats.org/officeDocument/2006/relationships/image"/><Relationship Id="rId8" Target="../media/image11.png" Type="http://schemas.openxmlformats.org/officeDocument/2006/relationships/image"/><Relationship Id="rId9" Target="../media/image39.jpe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44.svg" Type="http://schemas.openxmlformats.org/officeDocument/2006/relationships/image"/><Relationship Id="rId2" Target="../media/image40.jpeg" Type="http://schemas.openxmlformats.org/officeDocument/2006/relationships/image"/><Relationship Id="rId3" Target="../media/image14.png" Type="http://schemas.openxmlformats.org/officeDocument/2006/relationships/image"/><Relationship Id="rId4" Target="../media/image15.svg" Type="http://schemas.openxmlformats.org/officeDocument/2006/relationships/image"/><Relationship Id="rId5" Target="../media/image41.png" Type="http://schemas.openxmlformats.org/officeDocument/2006/relationships/image"/><Relationship Id="rId6" Target="../media/image42.svg" Type="http://schemas.openxmlformats.org/officeDocument/2006/relationships/image"/><Relationship Id="rId7" Target="../media/image16.png" Type="http://schemas.openxmlformats.org/officeDocument/2006/relationships/image"/><Relationship Id="rId8" Target="../media/image17.svg" Type="http://schemas.openxmlformats.org/officeDocument/2006/relationships/image"/><Relationship Id="rId9" Target="../media/image43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0.jpeg" Type="http://schemas.openxmlformats.org/officeDocument/2006/relationships/image"/><Relationship Id="rId3" Target="../media/image45.png" Type="http://schemas.openxmlformats.org/officeDocument/2006/relationships/image"/><Relationship Id="rId4" Target="../media/image46.svg" Type="http://schemas.openxmlformats.org/officeDocument/2006/relationships/image"/><Relationship Id="rId5" Target="../media/image47.png" Type="http://schemas.openxmlformats.org/officeDocument/2006/relationships/image"/><Relationship Id="rId6" Target="../media/image48.svg" Type="http://schemas.openxmlformats.org/officeDocument/2006/relationships/image"/><Relationship Id="rId7" Target="../media/image49.png" Type="http://schemas.openxmlformats.org/officeDocument/2006/relationships/image"/><Relationship Id="rId8" Target="../media/image5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1.jpe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Relationship Id="rId4" Target="../media/image18.jpeg" Type="http://schemas.openxmlformats.org/officeDocument/2006/relationships/image"/><Relationship Id="rId5" Target="../media/image52.png" Type="http://schemas.openxmlformats.org/officeDocument/2006/relationships/image"/><Relationship Id="rId6" Target="../media/image53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-5400000">
            <a:off x="11392544" y="4154952"/>
            <a:ext cx="11958151" cy="1929323"/>
            <a:chOff x="0" y="0"/>
            <a:chExt cx="3149472" cy="50813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149472" cy="508135"/>
            </a:xfrm>
            <a:custGeom>
              <a:avLst/>
              <a:gdLst/>
              <a:ahLst/>
              <a:cxnLst/>
              <a:rect r="r" b="b" t="t" l="l"/>
              <a:pathLst>
                <a:path h="508135" w="3149472">
                  <a:moveTo>
                    <a:pt x="0" y="0"/>
                  </a:moveTo>
                  <a:lnTo>
                    <a:pt x="3149472" y="0"/>
                  </a:lnTo>
                  <a:lnTo>
                    <a:pt x="3149472" y="508135"/>
                  </a:lnTo>
                  <a:lnTo>
                    <a:pt x="0" y="508135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149472" cy="5367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90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1208957" y="-101114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0"/>
                </a:lnTo>
                <a:lnTo>
                  <a:pt x="0" y="264775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95175" y="8630507"/>
            <a:ext cx="2647750" cy="2647750"/>
          </a:xfrm>
          <a:custGeom>
            <a:avLst/>
            <a:gdLst/>
            <a:ahLst/>
            <a:cxnLst/>
            <a:rect r="r" b="b" t="t" l="l"/>
            <a:pathLst>
              <a:path h="2647750" w="2647750">
                <a:moveTo>
                  <a:pt x="0" y="0"/>
                </a:moveTo>
                <a:lnTo>
                  <a:pt x="2647750" y="0"/>
                </a:lnTo>
                <a:lnTo>
                  <a:pt x="2647750" y="2647751"/>
                </a:lnTo>
                <a:lnTo>
                  <a:pt x="0" y="2647751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10288072" y="2181864"/>
            <a:ext cx="6118886" cy="6118886"/>
            <a:chOff x="0" y="0"/>
            <a:chExt cx="812800" cy="81280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blipFill>
              <a:blip r:embed="rId4"/>
              <a:stretch>
                <a:fillRect l="0" t="-326" r="0" b="-326"/>
              </a:stretch>
            </a:blipFill>
          </p:spPr>
        </p:sp>
      </p:grpSp>
      <p:sp>
        <p:nvSpPr>
          <p:cNvPr name="TextBox 9" id="9"/>
          <p:cNvSpPr txBox="true"/>
          <p:nvPr/>
        </p:nvSpPr>
        <p:spPr>
          <a:xfrm rot="0">
            <a:off x="882670" y="5872716"/>
            <a:ext cx="6648474" cy="3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Juan David Garces Galarraga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28700" y="4021610"/>
            <a:ext cx="7524838" cy="7171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376"/>
              </a:lnSpc>
            </a:pPr>
            <a:r>
              <a:rPr lang="en-US" sz="4480">
                <a:solidFill>
                  <a:srgbClr val="FFFBFB"/>
                </a:solidFill>
                <a:latin typeface="Poppins"/>
                <a:ea typeface="Poppins"/>
                <a:cs typeface="Poppins"/>
                <a:sym typeface="Poppins"/>
              </a:rPr>
              <a:t>INGENIERIA DE REQUISITOS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82670" y="1772022"/>
            <a:ext cx="8699112" cy="1880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14074"/>
              </a:lnSpc>
            </a:pPr>
            <a:r>
              <a:rPr lang="en-US" sz="11729" b="true">
                <a:solidFill>
                  <a:srgbClr val="56AEFF"/>
                </a:solidFill>
                <a:latin typeface="Poppins Bold"/>
                <a:ea typeface="Poppins Bold"/>
                <a:cs typeface="Poppins Bold"/>
                <a:sym typeface="Poppins Bold"/>
              </a:rPr>
              <a:t>PROYECTO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028700" y="5129235"/>
            <a:ext cx="2076432" cy="34343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570"/>
              </a:lnSpc>
            </a:pPr>
            <a:r>
              <a:rPr lang="en-US" sz="2142">
                <a:solidFill>
                  <a:srgbClr val="FFFBFB"/>
                </a:solidFill>
                <a:latin typeface="Poppins"/>
                <a:ea typeface="Poppins"/>
                <a:cs typeface="Poppins"/>
                <a:sym typeface="Poppins"/>
              </a:rPr>
              <a:t>INTEGRANTES 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882670" y="6401151"/>
            <a:ext cx="6648474" cy="3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Juan Fernando Cuchala Cantuca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882670" y="6924852"/>
            <a:ext cx="6648474" cy="3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Jaider Emilio Lopes Nastacuas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882670" y="7448552"/>
            <a:ext cx="6648474" cy="3903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131"/>
              </a:lnSpc>
              <a:spcBef>
                <a:spcPct val="0"/>
              </a:spcBef>
            </a:pPr>
            <a:r>
              <a:rPr lang="en-US" sz="2545" i="true">
                <a:solidFill>
                  <a:srgbClr val="56AEFF"/>
                </a:solidFill>
                <a:latin typeface="DM Sans Italics"/>
                <a:ea typeface="DM Sans Italics"/>
                <a:cs typeface="DM Sans Italics"/>
                <a:sym typeface="DM Sans Italics"/>
              </a:rPr>
              <a:t>Carlos Daniel Piarpusan Fuelantala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0000675" y="1509629"/>
            <a:ext cx="6992751" cy="8074770"/>
            <a:chOff x="0" y="0"/>
            <a:chExt cx="5499100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4991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4991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solidFill>
              <a:srgbClr val="56AEFF"/>
            </a:solidFill>
            <a:ln w="12700">
              <a:solidFill>
                <a:srgbClr val="000000"/>
              </a:solidFill>
            </a:ln>
          </p:spPr>
        </p:sp>
      </p:grpSp>
      <p:grpSp>
        <p:nvGrpSpPr>
          <p:cNvPr name="Group 4" id="4"/>
          <p:cNvGrpSpPr>
            <a:grpSpLocks noChangeAspect="true"/>
          </p:cNvGrpSpPr>
          <p:nvPr/>
        </p:nvGrpSpPr>
        <p:grpSpPr>
          <a:xfrm rot="0">
            <a:off x="10148313" y="1680111"/>
            <a:ext cx="6697476" cy="7733806"/>
            <a:chOff x="0" y="0"/>
            <a:chExt cx="5499100" cy="6350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5499100" cy="6350000"/>
            </a:xfrm>
            <a:custGeom>
              <a:avLst/>
              <a:gdLst/>
              <a:ahLst/>
              <a:cxnLst/>
              <a:rect r="r" b="b" t="t" l="l"/>
              <a:pathLst>
                <a:path h="6350000" w="5499100">
                  <a:moveTo>
                    <a:pt x="2749550" y="6350000"/>
                  </a:moveTo>
                  <a:lnTo>
                    <a:pt x="0" y="4762500"/>
                  </a:lnTo>
                  <a:lnTo>
                    <a:pt x="0" y="1587500"/>
                  </a:lnTo>
                  <a:lnTo>
                    <a:pt x="2749550" y="0"/>
                  </a:lnTo>
                  <a:lnTo>
                    <a:pt x="5499100" y="1587500"/>
                  </a:lnTo>
                  <a:lnTo>
                    <a:pt x="5499100" y="4762500"/>
                  </a:lnTo>
                  <a:lnTo>
                    <a:pt x="2749550" y="6350000"/>
                  </a:lnTo>
                  <a:close/>
                </a:path>
              </a:pathLst>
            </a:custGeom>
            <a:blipFill>
              <a:blip r:embed="rId2"/>
              <a:stretch>
                <a:fillRect l="-36659" t="0" r="-36659" b="0"/>
              </a:stretch>
            </a:blip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-7631327" y="597505"/>
            <a:ext cx="9077445" cy="9077445"/>
          </a:xfrm>
          <a:custGeom>
            <a:avLst/>
            <a:gdLst/>
            <a:ahLst/>
            <a:cxnLst/>
            <a:rect r="r" b="b" t="t" l="l"/>
            <a:pathLst>
              <a:path h="9077445" w="9077445">
                <a:moveTo>
                  <a:pt x="0" y="0"/>
                </a:moveTo>
                <a:lnTo>
                  <a:pt x="9077444" y="0"/>
                </a:lnTo>
                <a:lnTo>
                  <a:pt x="9077444" y="9077445"/>
                </a:lnTo>
                <a:lnTo>
                  <a:pt x="0" y="907744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369158" y="521305"/>
            <a:ext cx="9637616" cy="25051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625"/>
              </a:lnSpc>
              <a:spcBef>
                <a:spcPct val="0"/>
              </a:spcBef>
            </a:pPr>
            <a:r>
              <a:rPr lang="en-US" sz="8020">
                <a:solidFill>
                  <a:srgbClr val="56AEFF"/>
                </a:solidFill>
                <a:latin typeface="Poppins"/>
                <a:ea typeface="Poppins"/>
                <a:cs typeface="Poppins"/>
                <a:sym typeface="Poppins"/>
              </a:rPr>
              <a:t>GESTION DE REQUISITOS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787720" y="3292577"/>
            <a:ext cx="7378858" cy="614291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68"/>
              </a:lnSpc>
            </a:pPr>
            <a:r>
              <a:rPr lang="en-US" sz="2947" b="true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Para el levantamiento de los requisitos en un proyecto de desarrollo de software es importante:</a:t>
            </a:r>
          </a:p>
          <a:p>
            <a:pPr algn="l">
              <a:lnSpc>
                <a:spcPts val="4068"/>
              </a:lnSpc>
            </a:pPr>
          </a:p>
          <a:p>
            <a:pPr algn="l" marL="636453" indent="-318226" lvl="1">
              <a:lnSpc>
                <a:spcPts val="4068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Definir Objetivo.</a:t>
            </a:r>
          </a:p>
          <a:p>
            <a:pPr algn="l" marL="636453" indent="-318226" lvl="1">
              <a:lnSpc>
                <a:spcPts val="4068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Planificación de recolección de requisitos.</a:t>
            </a:r>
          </a:p>
          <a:p>
            <a:pPr algn="l" marL="636453" indent="-318226" lvl="1">
              <a:lnSpc>
                <a:spcPts val="4068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Uso de herramientas de gestión de requisitos.</a:t>
            </a:r>
          </a:p>
          <a:p>
            <a:pPr algn="l" marL="636453" indent="-318226" lvl="1">
              <a:lnSpc>
                <a:spcPts val="4068"/>
              </a:lnSpc>
              <a:buFont typeface="Arial"/>
              <a:buChar char="•"/>
            </a:pPr>
            <a:r>
              <a:rPr lang="en-US" b="true" sz="294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Alineación entre requisitos y objetivos del negocio.</a:t>
            </a:r>
          </a:p>
          <a:p>
            <a:pPr algn="ctr">
              <a:lnSpc>
                <a:spcPts val="406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159728" y="3574441"/>
            <a:ext cx="0" cy="4676296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593116" y="5969316"/>
            <a:ext cx="5946040" cy="36454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609"/>
              </a:lnSpc>
            </a:pPr>
            <a:r>
              <a:rPr lang="en-US" sz="26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Los requisitos son las necesidades o expectativas que debe cumplir el producto final. Una gestión deficiente de los mismos puede derivar en malentendidos, errores costosos, retrasos y falta de alineación entre los stakeholders.</a:t>
            </a:r>
          </a:p>
          <a:p>
            <a:pPr algn="l" marL="0" indent="0" lvl="0">
              <a:lnSpc>
                <a:spcPts val="3609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288262" y="3838895"/>
            <a:ext cx="837406" cy="1212035"/>
          </a:xfrm>
          <a:custGeom>
            <a:avLst/>
            <a:gdLst/>
            <a:ahLst/>
            <a:cxnLst/>
            <a:rect r="r" b="b" t="t" l="l"/>
            <a:pathLst>
              <a:path h="1212035" w="837406">
                <a:moveTo>
                  <a:pt x="0" y="0"/>
                </a:moveTo>
                <a:lnTo>
                  <a:pt x="837406" y="0"/>
                </a:lnTo>
                <a:lnTo>
                  <a:pt x="837406" y="1212036"/>
                </a:lnTo>
                <a:lnTo>
                  <a:pt x="0" y="121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7056" y="3840557"/>
            <a:ext cx="1197170" cy="1210374"/>
          </a:xfrm>
          <a:custGeom>
            <a:avLst/>
            <a:gdLst/>
            <a:ahLst/>
            <a:cxnLst/>
            <a:rect r="r" b="b" t="t" l="l"/>
            <a:pathLst>
              <a:path h="1210374" w="1197170">
                <a:moveTo>
                  <a:pt x="0" y="0"/>
                </a:moveTo>
                <a:lnTo>
                  <a:pt x="1197170" y="0"/>
                </a:lnTo>
                <a:lnTo>
                  <a:pt x="1197170" y="1210374"/>
                </a:lnTo>
                <a:lnTo>
                  <a:pt x="0" y="121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81160" y="9258300"/>
            <a:ext cx="13457996" cy="3264379"/>
            <a:chOff x="0" y="0"/>
            <a:chExt cx="17943995" cy="4352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6150721">
            <a:off x="7275779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2" y="0"/>
                </a:lnTo>
                <a:lnTo>
                  <a:pt x="13544802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7172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187242" y="-92569"/>
            <a:ext cx="6310571" cy="10379569"/>
            <a:chOff x="0" y="0"/>
            <a:chExt cx="3860673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9"/>
              <a:stretch>
                <a:fillRect l="-28048" t="0" r="-36430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4615544">
            <a:off x="11515599" y="616046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2" y="0"/>
                </a:lnTo>
                <a:lnTo>
                  <a:pt x="13544802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7172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AutoShape 20" id="20"/>
          <p:cNvSpPr/>
          <p:nvPr/>
        </p:nvSpPr>
        <p:spPr>
          <a:xfrm>
            <a:off x="1325421" y="5697125"/>
            <a:ext cx="4676296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593116" y="5720938"/>
            <a:ext cx="4676296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598547" y="767116"/>
            <a:ext cx="12588695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7"/>
              </a:lnSpc>
              <a:spcBef>
                <a:spcPct val="0"/>
              </a:spcBef>
            </a:pPr>
            <a:r>
              <a:rPr lang="en-US" sz="549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FALTA DE HERRAMIENTAS ADECUADAS PARA LA GESTION DE REQUISITOS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8547" y="5969316"/>
            <a:ext cx="6130045" cy="32526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747"/>
              </a:lnSpc>
              <a:spcBef>
                <a:spcPct val="0"/>
              </a:spcBef>
            </a:pPr>
            <a:r>
              <a:rPr lang="en-US" sz="27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se refiere a la ausencia o insuficiencia de recursos (ya sean software, metodologías, o incluso capacitación) que permitan a los equipos de desarrollo y gestión manejar de manera eficiente los requisitos de un proyecto.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1650145" y="5224079"/>
            <a:ext cx="4026849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DESCRIPCIÓN GENERAL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93540" y="5288101"/>
            <a:ext cx="4026849" cy="38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  <a:spcBef>
                <a:spcPct val="0"/>
              </a:spcBef>
            </a:pPr>
            <a:r>
              <a:rPr lang="en-US" b="true" sz="2315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 IMPORTANTES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-1259" t="0" r="-1259" b="0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44113" y="3984806"/>
            <a:ext cx="9352790" cy="105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POSIBLES SOLUCIONES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1587" y="5155937"/>
            <a:ext cx="6860109" cy="9553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851"/>
              </a:lnSpc>
            </a:pPr>
            <a:r>
              <a:rPr lang="en-US" sz="2790" spc="27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planteamos 3 posibles soluciones para la gestion de requisitos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9732888" y="2425000"/>
            <a:ext cx="879643" cy="1273167"/>
          </a:xfrm>
          <a:custGeom>
            <a:avLst/>
            <a:gdLst/>
            <a:ahLst/>
            <a:cxnLst/>
            <a:rect r="r" b="b" t="t" l="l"/>
            <a:pathLst>
              <a:path h="1273167" w="879643">
                <a:moveTo>
                  <a:pt x="0" y="0"/>
                </a:moveTo>
                <a:lnTo>
                  <a:pt x="879643" y="0"/>
                </a:lnTo>
                <a:lnTo>
                  <a:pt x="879643" y="1273168"/>
                </a:lnTo>
                <a:lnTo>
                  <a:pt x="0" y="127316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7259300" y="8127303"/>
            <a:ext cx="1802889" cy="1802889"/>
          </a:xfrm>
          <a:custGeom>
            <a:avLst/>
            <a:gdLst/>
            <a:ahLst/>
            <a:cxnLst/>
            <a:rect r="r" b="b" t="t" l="l"/>
            <a:pathLst>
              <a:path h="1802889" w="1802889">
                <a:moveTo>
                  <a:pt x="0" y="0"/>
                </a:moveTo>
                <a:lnTo>
                  <a:pt x="1802889" y="0"/>
                </a:lnTo>
                <a:lnTo>
                  <a:pt x="1802889" y="1802889"/>
                </a:lnTo>
                <a:lnTo>
                  <a:pt x="0" y="1802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12955382" y="-31450"/>
            <a:ext cx="6575871" cy="6835767"/>
            <a:chOff x="0" y="0"/>
            <a:chExt cx="6108573" cy="63500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61085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6108573">
                  <a:moveTo>
                    <a:pt x="6108573" y="0"/>
                  </a:moveTo>
                  <a:lnTo>
                    <a:pt x="6108573" y="3295396"/>
                  </a:lnTo>
                  <a:cubicBezTo>
                    <a:pt x="6108573" y="4982464"/>
                    <a:pt x="4741164" y="6350000"/>
                    <a:pt x="3054350" y="6350000"/>
                  </a:cubicBezTo>
                  <a:cubicBezTo>
                    <a:pt x="1367536" y="6350000"/>
                    <a:pt x="0" y="4982464"/>
                    <a:pt x="0" y="3295523"/>
                  </a:cubicBezTo>
                  <a:lnTo>
                    <a:pt x="0" y="0"/>
                  </a:lnTo>
                  <a:lnTo>
                    <a:pt x="6108573" y="0"/>
                  </a:lnTo>
                  <a:close/>
                </a:path>
              </a:pathLst>
            </a:custGeom>
            <a:blipFill>
              <a:blip r:embed="rId2"/>
              <a:stretch>
                <a:fillRect l="-28012" t="0" r="-28012" b="0"/>
              </a:stretch>
            </a:blipFill>
          </p:spPr>
        </p:sp>
      </p:grpSp>
      <p:sp>
        <p:nvSpPr>
          <p:cNvPr name="Freeform 4" id="4"/>
          <p:cNvSpPr/>
          <p:nvPr/>
        </p:nvSpPr>
        <p:spPr>
          <a:xfrm flipH="false" flipV="false" rot="0">
            <a:off x="17259300" y="8127303"/>
            <a:ext cx="1802889" cy="1802889"/>
          </a:xfrm>
          <a:custGeom>
            <a:avLst/>
            <a:gdLst/>
            <a:ahLst/>
            <a:cxnLst/>
            <a:rect r="r" b="b" t="t" l="l"/>
            <a:pathLst>
              <a:path h="1802889" w="1802889">
                <a:moveTo>
                  <a:pt x="0" y="0"/>
                </a:moveTo>
                <a:lnTo>
                  <a:pt x="1802889" y="0"/>
                </a:lnTo>
                <a:lnTo>
                  <a:pt x="1802889" y="1802889"/>
                </a:lnTo>
                <a:lnTo>
                  <a:pt x="0" y="180288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9833387" y="-1033334"/>
            <a:ext cx="2293320" cy="2293320"/>
          </a:xfrm>
          <a:custGeom>
            <a:avLst/>
            <a:gdLst/>
            <a:ahLst/>
            <a:cxnLst/>
            <a:rect r="r" b="b" t="t" l="l"/>
            <a:pathLst>
              <a:path h="2293320" w="2293320">
                <a:moveTo>
                  <a:pt x="0" y="0"/>
                </a:moveTo>
                <a:lnTo>
                  <a:pt x="2293320" y="0"/>
                </a:lnTo>
                <a:lnTo>
                  <a:pt x="2293320" y="2293319"/>
                </a:lnTo>
                <a:lnTo>
                  <a:pt x="0" y="229331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0">
            <a:off x="-1543050" y="-54747"/>
            <a:ext cx="2760734" cy="10341747"/>
            <a:chOff x="0" y="0"/>
            <a:chExt cx="727107" cy="2723752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727107" cy="2723752"/>
            </a:xfrm>
            <a:custGeom>
              <a:avLst/>
              <a:gdLst/>
              <a:ahLst/>
              <a:cxnLst/>
              <a:rect r="r" b="b" t="t" l="l"/>
              <a:pathLst>
                <a:path h="2723752" w="727107">
                  <a:moveTo>
                    <a:pt x="0" y="0"/>
                  </a:moveTo>
                  <a:lnTo>
                    <a:pt x="727107" y="0"/>
                  </a:lnTo>
                  <a:lnTo>
                    <a:pt x="727107" y="2723752"/>
                  </a:lnTo>
                  <a:lnTo>
                    <a:pt x="0" y="2723752"/>
                  </a:lnTo>
                  <a:close/>
                </a:path>
              </a:pathLst>
            </a:custGeom>
            <a:solidFill>
              <a:srgbClr val="145DA0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727107" cy="2761852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2524627" y="642570"/>
            <a:ext cx="10630753" cy="10198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946"/>
              </a:lnSpc>
              <a:spcBef>
                <a:spcPct val="0"/>
              </a:spcBef>
            </a:pPr>
            <a:r>
              <a:rPr lang="en-US" sz="328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FOMENTAR LA CAPACITACIÓN EN HERRAMIENTAS Y PROCESOS</a:t>
            </a:r>
          </a:p>
        </p:txBody>
      </p:sp>
      <p:pic>
        <p:nvPicPr>
          <p:cNvPr name="Picture 10" id="10"/>
          <p:cNvPicPr>
            <a:picLocks noChangeAspect="true"/>
          </p:cNvPicPr>
          <p:nvPr/>
        </p:nvPicPr>
        <p:blipFill>
          <a:blip r:embed="rId5"/>
          <a:stretch>
            <a:fillRect/>
          </a:stretch>
        </p:blipFill>
        <p:spPr>
          <a:xfrm rot="0">
            <a:off x="12769618" y="8888162"/>
            <a:ext cx="4629150" cy="1427793"/>
          </a:xfrm>
          <a:prstGeom prst="rect">
            <a:avLst/>
          </a:prstGeom>
        </p:spPr>
      </p:pic>
      <p:sp>
        <p:nvSpPr>
          <p:cNvPr name="TextBox 11" id="11"/>
          <p:cNvSpPr txBox="true"/>
          <p:nvPr/>
        </p:nvSpPr>
        <p:spPr>
          <a:xfrm rot="0">
            <a:off x="1274952" y="746241"/>
            <a:ext cx="1192407" cy="75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13"/>
              </a:lnSpc>
              <a:spcBef>
                <a:spcPct val="0"/>
              </a:spcBef>
            </a:pPr>
            <a:r>
              <a:rPr lang="en-US" b="true" sz="442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3201634" y="2266425"/>
            <a:ext cx="4402447" cy="59455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33"/>
              </a:lnSpc>
              <a:spcBef>
                <a:spcPct val="0"/>
              </a:spcBef>
            </a:pPr>
            <a:r>
              <a:rPr lang="en-US" b="true" sz="3574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Capacitaciones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3214816" y="3741887"/>
            <a:ext cx="4825114" cy="6028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953"/>
              </a:lnSpc>
              <a:spcBef>
                <a:spcPct val="0"/>
              </a:spcBef>
            </a:pPr>
            <a:r>
              <a:rPr lang="en-US" b="true" sz="358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Benefisio</a:t>
            </a:r>
          </a:p>
        </p:txBody>
      </p:sp>
      <p:grpSp>
        <p:nvGrpSpPr>
          <p:cNvPr name="Group 14" id="14"/>
          <p:cNvGrpSpPr/>
          <p:nvPr/>
        </p:nvGrpSpPr>
        <p:grpSpPr>
          <a:xfrm rot="0">
            <a:off x="1766457" y="2036380"/>
            <a:ext cx="1142373" cy="1142373"/>
            <a:chOff x="0" y="0"/>
            <a:chExt cx="812800" cy="81280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766457" y="3432675"/>
            <a:ext cx="1142373" cy="1142373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2045800" y="2250315"/>
            <a:ext cx="733166" cy="714504"/>
          </a:xfrm>
          <a:custGeom>
            <a:avLst/>
            <a:gdLst/>
            <a:ahLst/>
            <a:cxnLst/>
            <a:rect r="r" b="b" t="t" l="l"/>
            <a:pathLst>
              <a:path h="714504" w="733166">
                <a:moveTo>
                  <a:pt x="0" y="0"/>
                </a:moveTo>
                <a:lnTo>
                  <a:pt x="733167" y="0"/>
                </a:lnTo>
                <a:lnTo>
                  <a:pt x="733167" y="714503"/>
                </a:lnTo>
                <a:lnTo>
                  <a:pt x="0" y="714503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2045800" y="3662849"/>
            <a:ext cx="715471" cy="818106"/>
          </a:xfrm>
          <a:custGeom>
            <a:avLst/>
            <a:gdLst/>
            <a:ahLst/>
            <a:cxnLst/>
            <a:rect r="r" b="b" t="t" l="l"/>
            <a:pathLst>
              <a:path h="818106" w="715471">
                <a:moveTo>
                  <a:pt x="0" y="0"/>
                </a:moveTo>
                <a:lnTo>
                  <a:pt x="715471" y="0"/>
                </a:lnTo>
                <a:lnTo>
                  <a:pt x="715471" y="818106"/>
                </a:lnTo>
                <a:lnTo>
                  <a:pt x="0" y="818106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2" id="22"/>
          <p:cNvSpPr txBox="true"/>
          <p:nvPr/>
        </p:nvSpPr>
        <p:spPr>
          <a:xfrm rot="0">
            <a:off x="1395724" y="5605720"/>
            <a:ext cx="1007812" cy="75414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53"/>
              </a:lnSpc>
              <a:spcBef>
                <a:spcPct val="0"/>
              </a:spcBef>
            </a:pPr>
            <a:r>
              <a:rPr lang="en-US" b="true" sz="4458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2524627" y="5453898"/>
            <a:ext cx="11030607" cy="11054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252"/>
              </a:lnSpc>
              <a:spcBef>
                <a:spcPct val="0"/>
              </a:spcBef>
            </a:pPr>
            <a:r>
              <a:rPr lang="en-US" sz="3543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USO DE HERRAMIENTAS DE GESTIÓN DE REQUISITOS ESPECIALIZADAS</a:t>
            </a:r>
          </a:p>
        </p:txBody>
      </p:sp>
      <p:sp>
        <p:nvSpPr>
          <p:cNvPr name="TextBox 24" id="24"/>
          <p:cNvSpPr txBox="true"/>
          <p:nvPr/>
        </p:nvSpPr>
        <p:spPr>
          <a:xfrm rot="0">
            <a:off x="4823305" y="7356607"/>
            <a:ext cx="5317256" cy="6284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051D40"/>
                </a:solidFill>
                <a:latin typeface="DM Sans Bold"/>
                <a:ea typeface="DM Sans Bold"/>
                <a:cs typeface="DM Sans Bold"/>
                <a:sym typeface="DM Sans Bold"/>
              </a:rPr>
              <a:t>Ejemplo: Jira Software.</a:t>
            </a:r>
          </a:p>
        </p:txBody>
      </p:sp>
      <p:grpSp>
        <p:nvGrpSpPr>
          <p:cNvPr name="Group 25" id="25"/>
          <p:cNvGrpSpPr/>
          <p:nvPr/>
        </p:nvGrpSpPr>
        <p:grpSpPr>
          <a:xfrm rot="0">
            <a:off x="1871155" y="7125939"/>
            <a:ext cx="1142373" cy="1142373"/>
            <a:chOff x="0" y="0"/>
            <a:chExt cx="812800" cy="812800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8" id="28"/>
          <p:cNvSpPr/>
          <p:nvPr/>
        </p:nvSpPr>
        <p:spPr>
          <a:xfrm flipH="false" flipV="false" rot="0">
            <a:off x="1955656" y="7266948"/>
            <a:ext cx="1057873" cy="860355"/>
          </a:xfrm>
          <a:custGeom>
            <a:avLst/>
            <a:gdLst/>
            <a:ahLst/>
            <a:cxnLst/>
            <a:rect r="r" b="b" t="t" l="l"/>
            <a:pathLst>
              <a:path h="860355" w="1057873">
                <a:moveTo>
                  <a:pt x="0" y="0"/>
                </a:moveTo>
                <a:lnTo>
                  <a:pt x="1057873" y="0"/>
                </a:lnTo>
                <a:lnTo>
                  <a:pt x="1057873" y="860355"/>
                </a:lnTo>
                <a:lnTo>
                  <a:pt x="0" y="860355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9" id="29"/>
          <p:cNvSpPr txBox="true"/>
          <p:nvPr/>
        </p:nvSpPr>
        <p:spPr>
          <a:xfrm rot="0">
            <a:off x="3293306" y="7448389"/>
            <a:ext cx="3162246" cy="5946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926"/>
              </a:lnSpc>
              <a:spcBef>
                <a:spcPct val="0"/>
              </a:spcBef>
            </a:pPr>
            <a:r>
              <a:rPr lang="en-US" b="true" sz="3569">
                <a:solidFill>
                  <a:srgbClr val="38B6FF"/>
                </a:solidFill>
                <a:latin typeface="DM Sans Bold"/>
                <a:ea typeface="DM Sans Bold"/>
                <a:cs typeface="DM Sans Bold"/>
                <a:sym typeface="DM Sans Bold"/>
              </a:rPr>
              <a:t>Jira Software</a:t>
            </a:r>
          </a:p>
        </p:txBody>
      </p:sp>
      <p:grpSp>
        <p:nvGrpSpPr>
          <p:cNvPr name="Group 30" id="30"/>
          <p:cNvGrpSpPr/>
          <p:nvPr/>
        </p:nvGrpSpPr>
        <p:grpSpPr>
          <a:xfrm rot="0">
            <a:off x="8012349" y="7125939"/>
            <a:ext cx="2263303" cy="2114849"/>
            <a:chOff x="0" y="0"/>
            <a:chExt cx="614526" cy="574218"/>
          </a:xfrm>
        </p:grpSpPr>
        <p:sp>
          <p:nvSpPr>
            <p:cNvPr name="Freeform 31" id="31"/>
            <p:cNvSpPr/>
            <p:nvPr/>
          </p:nvSpPr>
          <p:spPr>
            <a:xfrm flipH="false" flipV="false" rot="0">
              <a:off x="0" y="0"/>
              <a:ext cx="614526" cy="574218"/>
            </a:xfrm>
            <a:custGeom>
              <a:avLst/>
              <a:gdLst/>
              <a:ahLst/>
              <a:cxnLst/>
              <a:rect r="r" b="b" t="t" l="l"/>
              <a:pathLst>
                <a:path h="574218" w="614526">
                  <a:moveTo>
                    <a:pt x="307263" y="0"/>
                  </a:moveTo>
                  <a:lnTo>
                    <a:pt x="614526" y="287109"/>
                  </a:lnTo>
                  <a:lnTo>
                    <a:pt x="307263" y="574218"/>
                  </a:lnTo>
                  <a:lnTo>
                    <a:pt x="0" y="287109"/>
                  </a:lnTo>
                  <a:lnTo>
                    <a:pt x="307263" y="0"/>
                  </a:lnTo>
                  <a:close/>
                </a:path>
              </a:pathLst>
            </a:custGeom>
            <a:blipFill>
              <a:blip r:embed="rId12"/>
              <a:stretch>
                <a:fillRect l="-42122" t="-34915" r="-43091" b="-63299"/>
              </a:stretch>
            </a:blipFill>
          </p:spPr>
        </p:sp>
      </p:grpSp>
      <p:sp>
        <p:nvSpPr>
          <p:cNvPr name="AutoShape 32" id="32"/>
          <p:cNvSpPr/>
          <p:nvPr/>
        </p:nvSpPr>
        <p:spPr>
          <a:xfrm>
            <a:off x="8039931" y="9625870"/>
            <a:ext cx="2263303" cy="0"/>
          </a:xfrm>
          <a:prstGeom prst="line">
            <a:avLst/>
          </a:prstGeom>
          <a:ln cap="flat" w="47625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1313163">
            <a:off x="-4146317" y="6154887"/>
            <a:ext cx="9085628" cy="5368780"/>
          </a:xfrm>
          <a:custGeom>
            <a:avLst/>
            <a:gdLst/>
            <a:ahLst/>
            <a:cxnLst/>
            <a:rect r="r" b="b" t="t" l="l"/>
            <a:pathLst>
              <a:path h="5368780" w="9085628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5062913" y="5895210"/>
            <a:ext cx="3260448" cy="405489"/>
          </a:xfrm>
          <a:custGeom>
            <a:avLst/>
            <a:gdLst/>
            <a:ahLst/>
            <a:cxnLst/>
            <a:rect r="r" b="b" t="t" l="l"/>
            <a:pathLst>
              <a:path h="405489" w="3260448">
                <a:moveTo>
                  <a:pt x="0" y="0"/>
                </a:moveTo>
                <a:lnTo>
                  <a:pt x="3260447" y="0"/>
                </a:lnTo>
                <a:lnTo>
                  <a:pt x="3260447" y="405489"/>
                </a:lnTo>
                <a:lnTo>
                  <a:pt x="0" y="4054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3836" t="-70990" r="-3836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1313163">
            <a:off x="14330817" y="-1655690"/>
            <a:ext cx="9085628" cy="5368780"/>
          </a:xfrm>
          <a:custGeom>
            <a:avLst/>
            <a:gdLst/>
            <a:ahLst/>
            <a:cxnLst/>
            <a:rect r="r" b="b" t="t" l="l"/>
            <a:pathLst>
              <a:path h="5368780" w="9085628">
                <a:moveTo>
                  <a:pt x="0" y="0"/>
                </a:moveTo>
                <a:lnTo>
                  <a:pt x="9085629" y="0"/>
                </a:lnTo>
                <a:lnTo>
                  <a:pt x="9085629" y="5368780"/>
                </a:lnTo>
                <a:lnTo>
                  <a:pt x="0" y="536878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5" id="5"/>
          <p:cNvSpPr/>
          <p:nvPr/>
        </p:nvSpPr>
        <p:spPr>
          <a:xfrm>
            <a:off x="1802641" y="2985754"/>
            <a:ext cx="13020027" cy="0"/>
          </a:xfrm>
          <a:prstGeom prst="line">
            <a:avLst/>
          </a:prstGeom>
          <a:ln cap="flat" w="47625">
            <a:solidFill>
              <a:srgbClr val="051D4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0">
            <a:off x="15613184" y="4129400"/>
            <a:ext cx="2159905" cy="1756625"/>
          </a:xfrm>
          <a:custGeom>
            <a:avLst/>
            <a:gdLst/>
            <a:ahLst/>
            <a:cxnLst/>
            <a:rect r="r" b="b" t="t" l="l"/>
            <a:pathLst>
              <a:path h="1756625" w="2159905">
                <a:moveTo>
                  <a:pt x="0" y="0"/>
                </a:moveTo>
                <a:lnTo>
                  <a:pt x="2159905" y="0"/>
                </a:lnTo>
                <a:lnTo>
                  <a:pt x="2159905" y="1756625"/>
                </a:lnTo>
                <a:lnTo>
                  <a:pt x="0" y="1756625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7" id="7"/>
          <p:cNvGrpSpPr/>
          <p:nvPr/>
        </p:nvGrpSpPr>
        <p:grpSpPr>
          <a:xfrm rot="0">
            <a:off x="3783867" y="7780014"/>
            <a:ext cx="2132498" cy="1825046"/>
            <a:chOff x="0" y="0"/>
            <a:chExt cx="675959" cy="57850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675959" cy="578503"/>
            </a:xfrm>
            <a:custGeom>
              <a:avLst/>
              <a:gdLst/>
              <a:ahLst/>
              <a:cxnLst/>
              <a:rect r="r" b="b" t="t" l="l"/>
              <a:pathLst>
                <a:path h="578503" w="675959">
                  <a:moveTo>
                    <a:pt x="83500" y="0"/>
                  </a:moveTo>
                  <a:lnTo>
                    <a:pt x="592459" y="0"/>
                  </a:lnTo>
                  <a:cubicBezTo>
                    <a:pt x="638574" y="0"/>
                    <a:pt x="675959" y="37384"/>
                    <a:pt x="675959" y="83500"/>
                  </a:cubicBezTo>
                  <a:lnTo>
                    <a:pt x="675959" y="495003"/>
                  </a:lnTo>
                  <a:cubicBezTo>
                    <a:pt x="675959" y="517148"/>
                    <a:pt x="667161" y="538387"/>
                    <a:pt x="651502" y="554046"/>
                  </a:cubicBezTo>
                  <a:cubicBezTo>
                    <a:pt x="635843" y="569705"/>
                    <a:pt x="614604" y="578503"/>
                    <a:pt x="592459" y="578503"/>
                  </a:cubicBezTo>
                  <a:lnTo>
                    <a:pt x="83500" y="578503"/>
                  </a:lnTo>
                  <a:cubicBezTo>
                    <a:pt x="37384" y="578503"/>
                    <a:pt x="0" y="541118"/>
                    <a:pt x="0" y="495003"/>
                  </a:cubicBezTo>
                  <a:lnTo>
                    <a:pt x="0" y="83500"/>
                  </a:lnTo>
                  <a:cubicBezTo>
                    <a:pt x="0" y="37384"/>
                    <a:pt x="37384" y="0"/>
                    <a:pt x="83500" y="0"/>
                  </a:cubicBezTo>
                  <a:close/>
                </a:path>
              </a:pathLst>
            </a:custGeom>
            <a:blipFill>
              <a:blip r:embed="rId7"/>
              <a:stretch>
                <a:fillRect l="-11682" t="0" r="-16531" b="0"/>
              </a:stretch>
            </a:blipFill>
          </p:spPr>
        </p:sp>
      </p:grpSp>
      <p:grpSp>
        <p:nvGrpSpPr>
          <p:cNvPr name="Group 9" id="9"/>
          <p:cNvGrpSpPr/>
          <p:nvPr/>
        </p:nvGrpSpPr>
        <p:grpSpPr>
          <a:xfrm rot="0">
            <a:off x="2144365" y="4848148"/>
            <a:ext cx="850065" cy="850065"/>
            <a:chOff x="0" y="0"/>
            <a:chExt cx="812800" cy="812800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12" id="12"/>
          <p:cNvSpPr/>
          <p:nvPr/>
        </p:nvSpPr>
        <p:spPr>
          <a:xfrm flipH="false" flipV="false" rot="0">
            <a:off x="2225137" y="4873129"/>
            <a:ext cx="688520" cy="679757"/>
          </a:xfrm>
          <a:custGeom>
            <a:avLst/>
            <a:gdLst/>
            <a:ahLst/>
            <a:cxnLst/>
            <a:rect r="r" b="b" t="t" l="l"/>
            <a:pathLst>
              <a:path h="679757" w="688520">
                <a:moveTo>
                  <a:pt x="0" y="0"/>
                </a:moveTo>
                <a:lnTo>
                  <a:pt x="688520" y="0"/>
                </a:lnTo>
                <a:lnTo>
                  <a:pt x="688520" y="679757"/>
                </a:lnTo>
                <a:lnTo>
                  <a:pt x="0" y="679757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13" id="13"/>
          <p:cNvGrpSpPr/>
          <p:nvPr/>
        </p:nvGrpSpPr>
        <p:grpSpPr>
          <a:xfrm rot="0">
            <a:off x="10425747" y="7931061"/>
            <a:ext cx="3231846" cy="1816433"/>
            <a:chOff x="0" y="0"/>
            <a:chExt cx="812800" cy="456828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0" y="0"/>
              <a:ext cx="812800" cy="456828"/>
            </a:xfrm>
            <a:custGeom>
              <a:avLst/>
              <a:gdLst/>
              <a:ahLst/>
              <a:cxnLst/>
              <a:rect r="r" b="b" t="t" l="l"/>
              <a:pathLst>
                <a:path h="456828" w="812800">
                  <a:moveTo>
                    <a:pt x="406400" y="0"/>
                  </a:moveTo>
                  <a:lnTo>
                    <a:pt x="812800" y="456828"/>
                  </a:lnTo>
                  <a:lnTo>
                    <a:pt x="0" y="456828"/>
                  </a:lnTo>
                  <a:lnTo>
                    <a:pt x="406400" y="0"/>
                  </a:lnTo>
                  <a:close/>
                </a:path>
              </a:pathLst>
            </a:custGeom>
            <a:blipFill>
              <a:blip r:embed="rId10"/>
              <a:stretch>
                <a:fillRect l="-13390" t="0" r="-12439" b="0"/>
              </a:stretch>
            </a:blipFill>
          </p:spPr>
        </p:sp>
      </p:grpSp>
      <p:sp>
        <p:nvSpPr>
          <p:cNvPr name="Freeform 15" id="15"/>
          <p:cNvSpPr/>
          <p:nvPr/>
        </p:nvSpPr>
        <p:spPr>
          <a:xfrm flipH="false" flipV="false" rot="-8635616">
            <a:off x="14686600" y="6806871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6" id="16"/>
          <p:cNvSpPr txBox="true"/>
          <p:nvPr/>
        </p:nvSpPr>
        <p:spPr>
          <a:xfrm rot="0">
            <a:off x="1962930" y="990600"/>
            <a:ext cx="13650254" cy="15430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964"/>
              </a:lnSpc>
              <a:spcBef>
                <a:spcPct val="0"/>
              </a:spcBef>
            </a:pPr>
            <a:r>
              <a:rPr lang="en-US" sz="49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IMPLEMENTACIÓN DE METODOLOGÍAS ÁGILES Y USO DE HERRAMIENTAS COLABORATIVAS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07203" y="923925"/>
            <a:ext cx="1095438" cy="109786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9049"/>
              </a:lnSpc>
              <a:spcBef>
                <a:spcPct val="0"/>
              </a:spcBef>
            </a:pPr>
            <a:r>
              <a:rPr lang="en-US" b="true" sz="6557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3431299" y="4847831"/>
            <a:ext cx="3939044" cy="70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7"/>
              </a:lnSpc>
              <a:spcBef>
                <a:spcPct val="0"/>
              </a:spcBef>
            </a:pPr>
            <a:r>
              <a:rPr lang="en-US" b="true" sz="415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Trello o Asana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3224376" y="6243549"/>
            <a:ext cx="10767954" cy="19429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Facilitan la adaptación a cambios en los requisitos y mejora la colaboración entre los miembros del equipo.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3224376" y="3441641"/>
            <a:ext cx="5383977" cy="7050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737"/>
              </a:lnSpc>
              <a:spcBef>
                <a:spcPct val="0"/>
              </a:spcBef>
            </a:pPr>
            <a:r>
              <a:rPr lang="en-US" b="true" sz="4157">
                <a:solidFill>
                  <a:srgbClr val="000000"/>
                </a:solidFill>
                <a:latin typeface="DM Sans Bold"/>
                <a:ea typeface="DM Sans Bold"/>
                <a:cs typeface="DM Sans Bold"/>
                <a:sym typeface="DM Sans Bold"/>
              </a:rPr>
              <a:t>Metdologias Agiles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2104787" y="3327834"/>
            <a:ext cx="929220" cy="929220"/>
            <a:chOff x="0" y="0"/>
            <a:chExt cx="812800" cy="812800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56AEFF"/>
            </a:solidFill>
          </p:spPr>
        </p:sp>
        <p:sp>
          <p:nvSpPr>
            <p:cNvPr name="TextBox 23" id="23"/>
            <p:cNvSpPr txBox="true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Freeform 24" id="24"/>
          <p:cNvSpPr/>
          <p:nvPr/>
        </p:nvSpPr>
        <p:spPr>
          <a:xfrm flipH="false" flipV="false" rot="0">
            <a:off x="2225137" y="3420896"/>
            <a:ext cx="733855" cy="708504"/>
          </a:xfrm>
          <a:custGeom>
            <a:avLst/>
            <a:gdLst/>
            <a:ahLst/>
            <a:cxnLst/>
            <a:rect r="r" b="b" t="t" l="l"/>
            <a:pathLst>
              <a:path h="708504" w="733855">
                <a:moveTo>
                  <a:pt x="0" y="0"/>
                </a:moveTo>
                <a:lnTo>
                  <a:pt x="733855" y="0"/>
                </a:lnTo>
                <a:lnTo>
                  <a:pt x="733855" y="708504"/>
                </a:lnTo>
                <a:lnTo>
                  <a:pt x="0" y="708504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25" id="25"/>
          <p:cNvSpPr txBox="true"/>
          <p:nvPr/>
        </p:nvSpPr>
        <p:spPr>
          <a:xfrm rot="0">
            <a:off x="0" y="4108596"/>
            <a:ext cx="8149747" cy="4516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86"/>
              </a:lnSpc>
              <a:spcBef>
                <a:spcPct val="0"/>
              </a:spcBef>
            </a:pPr>
            <a:r>
              <a:rPr lang="en-US" b="true" sz="2744">
                <a:solidFill>
                  <a:srgbClr val="F5FFF5"/>
                </a:solidFill>
                <a:latin typeface="DM Sans Bold"/>
                <a:ea typeface="DM Sans Bold"/>
                <a:cs typeface="DM Sans Bold"/>
                <a:sym typeface="DM Sans Bold"/>
              </a:rPr>
              <a:t>SCRUM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AutoShape 2" id="2"/>
          <p:cNvSpPr/>
          <p:nvPr/>
        </p:nvSpPr>
        <p:spPr>
          <a:xfrm>
            <a:off x="7159728" y="3574441"/>
            <a:ext cx="0" cy="4676296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3" id="3"/>
          <p:cNvSpPr txBox="true"/>
          <p:nvPr/>
        </p:nvSpPr>
        <p:spPr>
          <a:xfrm rot="0">
            <a:off x="7431191" y="6070506"/>
            <a:ext cx="6379428" cy="21110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57101" indent="-328551" lvl="1">
              <a:lnSpc>
                <a:spcPts val="4200"/>
              </a:lnSpc>
              <a:buFont typeface="Arial"/>
              <a:buChar char="•"/>
            </a:pPr>
            <a:r>
              <a:rPr lang="en-US" sz="30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Requisitos.</a:t>
            </a:r>
          </a:p>
          <a:p>
            <a:pPr algn="l" marL="657101" indent="-328551" lvl="1">
              <a:lnSpc>
                <a:spcPts val="4200"/>
              </a:lnSpc>
              <a:buFont typeface="Arial"/>
              <a:buChar char="•"/>
            </a:pPr>
            <a:r>
              <a:rPr lang="en-US" sz="30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Objetivos del negocio.</a:t>
            </a:r>
          </a:p>
          <a:p>
            <a:pPr algn="l" marL="657101" indent="-328551" lvl="1">
              <a:lnSpc>
                <a:spcPts val="4200"/>
              </a:lnSpc>
              <a:buFont typeface="Arial"/>
              <a:buChar char="•"/>
            </a:pPr>
            <a:r>
              <a:rPr lang="en-US" sz="3043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Alineación.</a:t>
            </a:r>
          </a:p>
          <a:p>
            <a:pPr algn="l" marL="0" indent="0" lvl="0">
              <a:lnSpc>
                <a:spcPts val="4200"/>
              </a:lnSpc>
              <a:spcBef>
                <a:spcPct val="0"/>
              </a:spcBef>
            </a:pPr>
          </a:p>
        </p:txBody>
      </p:sp>
      <p:sp>
        <p:nvSpPr>
          <p:cNvPr name="Freeform 4" id="4"/>
          <p:cNvSpPr/>
          <p:nvPr/>
        </p:nvSpPr>
        <p:spPr>
          <a:xfrm flipH="false" flipV="false" rot="0">
            <a:off x="9288262" y="3838895"/>
            <a:ext cx="837406" cy="1212035"/>
          </a:xfrm>
          <a:custGeom>
            <a:avLst/>
            <a:gdLst/>
            <a:ahLst/>
            <a:cxnLst/>
            <a:rect r="r" b="b" t="t" l="l"/>
            <a:pathLst>
              <a:path h="1212035" w="837406">
                <a:moveTo>
                  <a:pt x="0" y="0"/>
                </a:moveTo>
                <a:lnTo>
                  <a:pt x="837406" y="0"/>
                </a:lnTo>
                <a:lnTo>
                  <a:pt x="837406" y="1212036"/>
                </a:lnTo>
                <a:lnTo>
                  <a:pt x="0" y="121203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3057056" y="3840557"/>
            <a:ext cx="1197170" cy="1210374"/>
          </a:xfrm>
          <a:custGeom>
            <a:avLst/>
            <a:gdLst/>
            <a:ahLst/>
            <a:cxnLst/>
            <a:rect r="r" b="b" t="t" l="l"/>
            <a:pathLst>
              <a:path h="1210374" w="1197170">
                <a:moveTo>
                  <a:pt x="0" y="0"/>
                </a:moveTo>
                <a:lnTo>
                  <a:pt x="1197170" y="0"/>
                </a:lnTo>
                <a:lnTo>
                  <a:pt x="1197170" y="1210374"/>
                </a:lnTo>
                <a:lnTo>
                  <a:pt x="0" y="121037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6" id="6"/>
          <p:cNvGrpSpPr/>
          <p:nvPr/>
        </p:nvGrpSpPr>
        <p:grpSpPr>
          <a:xfrm rot="-10800000">
            <a:off x="81160" y="9258300"/>
            <a:ext cx="13457996" cy="3264379"/>
            <a:chOff x="0" y="0"/>
            <a:chExt cx="17943995" cy="4352506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9" id="9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Freeform 11" id="11"/>
          <p:cNvSpPr/>
          <p:nvPr/>
        </p:nvSpPr>
        <p:spPr>
          <a:xfrm flipH="false" flipV="false" rot="6150721">
            <a:off x="7176230" y="4579544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7172" r="0" b="0"/>
            </a:stretch>
          </a:blipFill>
        </p:spPr>
      </p:sp>
      <p:grpSp>
        <p:nvGrpSpPr>
          <p:cNvPr name="Group 12" id="12"/>
          <p:cNvGrpSpPr>
            <a:grpSpLocks noChangeAspect="true"/>
          </p:cNvGrpSpPr>
          <p:nvPr/>
        </p:nvGrpSpPr>
        <p:grpSpPr>
          <a:xfrm rot="0">
            <a:off x="13434892" y="-92569"/>
            <a:ext cx="6254290" cy="10287000"/>
            <a:chOff x="0" y="0"/>
            <a:chExt cx="3860673" cy="6350000"/>
          </a:xfrm>
        </p:grpSpPr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3860673" cy="6350000"/>
            </a:xfrm>
            <a:custGeom>
              <a:avLst/>
              <a:gdLst/>
              <a:ahLst/>
              <a:cxnLst/>
              <a:rect r="r" b="b" t="t" l="l"/>
              <a:pathLst>
                <a:path h="6350000" w="3860673">
                  <a:moveTo>
                    <a:pt x="3860673" y="0"/>
                  </a:moveTo>
                  <a:lnTo>
                    <a:pt x="2341753" y="6350000"/>
                  </a:lnTo>
                  <a:lnTo>
                    <a:pt x="0" y="6350000"/>
                  </a:lnTo>
                  <a:lnTo>
                    <a:pt x="1518920" y="0"/>
                  </a:lnTo>
                  <a:lnTo>
                    <a:pt x="3860673" y="0"/>
                  </a:lnTo>
                  <a:close/>
                </a:path>
              </a:pathLst>
            </a:custGeom>
            <a:blipFill>
              <a:blip r:embed="rId9"/>
              <a:stretch>
                <a:fillRect l="-73436" t="0" r="-73436" b="0"/>
              </a:stretch>
            </a:blipFill>
          </p:spPr>
        </p:sp>
      </p:grpSp>
      <p:sp>
        <p:nvSpPr>
          <p:cNvPr name="Freeform 14" id="14"/>
          <p:cNvSpPr/>
          <p:nvPr/>
        </p:nvSpPr>
        <p:spPr>
          <a:xfrm flipH="false" flipV="false" rot="-4615544">
            <a:off x="10510810" y="5041623"/>
            <a:ext cx="13544802" cy="1127911"/>
          </a:xfrm>
          <a:custGeom>
            <a:avLst/>
            <a:gdLst/>
            <a:ahLst/>
            <a:cxnLst/>
            <a:rect r="r" b="b" t="t" l="l"/>
            <a:pathLst>
              <a:path h="1127911" w="13544802">
                <a:moveTo>
                  <a:pt x="0" y="0"/>
                </a:moveTo>
                <a:lnTo>
                  <a:pt x="13544801" y="0"/>
                </a:lnTo>
                <a:lnTo>
                  <a:pt x="13544801" y="1127912"/>
                </a:lnTo>
                <a:lnTo>
                  <a:pt x="0" y="112791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 l="0" t="-137172" r="0" b="0"/>
            </a:stretch>
          </a:blipFill>
        </p:spPr>
      </p:sp>
      <p:grpSp>
        <p:nvGrpSpPr>
          <p:cNvPr name="Group 15" id="15"/>
          <p:cNvGrpSpPr/>
          <p:nvPr/>
        </p:nvGrpSpPr>
        <p:grpSpPr>
          <a:xfrm rot="-10800000">
            <a:off x="15966396" y="9258300"/>
            <a:ext cx="13457996" cy="3264379"/>
            <a:chOff x="0" y="0"/>
            <a:chExt cx="17943995" cy="4352506"/>
          </a:xfrm>
        </p:grpSpPr>
        <p:sp>
          <p:nvSpPr>
            <p:cNvPr name="Freeform 16" id="16"/>
            <p:cNvSpPr/>
            <p:nvPr/>
          </p:nvSpPr>
          <p:spPr>
            <a:xfrm flipH="false" flipV="false" rot="0">
              <a:off x="0" y="0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0"/>
                  </a:lnTo>
                  <a:lnTo>
                    <a:pt x="0" y="414965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7" id="17"/>
            <p:cNvSpPr/>
            <p:nvPr/>
          </p:nvSpPr>
          <p:spPr>
            <a:xfrm flipH="false" flipV="false" rot="0">
              <a:off x="4600097" y="861572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1" y="0"/>
                  </a:lnTo>
                  <a:lnTo>
                    <a:pt x="4149651" y="3288078"/>
                  </a:lnTo>
                  <a:lnTo>
                    <a:pt x="0" y="32880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9194248" y="202855"/>
              <a:ext cx="4149650" cy="4149650"/>
            </a:xfrm>
            <a:custGeom>
              <a:avLst/>
              <a:gdLst/>
              <a:ahLst/>
              <a:cxnLst/>
              <a:rect r="r" b="b" t="t" l="l"/>
              <a:pathLst>
                <a:path h="4149650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4149651"/>
                  </a:lnTo>
                  <a:lnTo>
                    <a:pt x="0" y="41496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0"/>
              </a:stretch>
            </a:blipFill>
          </p:spPr>
        </p:sp>
        <p:sp>
          <p:nvSpPr>
            <p:cNvPr name="Freeform 19" id="19"/>
            <p:cNvSpPr/>
            <p:nvPr/>
          </p:nvSpPr>
          <p:spPr>
            <a:xfrm flipH="false" flipV="false" rot="0">
              <a:off x="13794345" y="1064427"/>
              <a:ext cx="4149650" cy="3288079"/>
            </a:xfrm>
            <a:custGeom>
              <a:avLst/>
              <a:gdLst/>
              <a:ahLst/>
              <a:cxnLst/>
              <a:rect r="r" b="b" t="t" l="l"/>
              <a:pathLst>
                <a:path h="3288079" w="4149650">
                  <a:moveTo>
                    <a:pt x="0" y="0"/>
                  </a:moveTo>
                  <a:lnTo>
                    <a:pt x="4149650" y="0"/>
                  </a:lnTo>
                  <a:lnTo>
                    <a:pt x="4149650" y="3288079"/>
                  </a:lnTo>
                  <a:lnTo>
                    <a:pt x="0" y="3288079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 l="0" t="0" r="0" b="-26202"/>
              </a:stretch>
            </a:blipFill>
          </p:spPr>
        </p:sp>
      </p:grpSp>
      <p:sp>
        <p:nvSpPr>
          <p:cNvPr name="AutoShape 20" id="20"/>
          <p:cNvSpPr/>
          <p:nvPr/>
        </p:nvSpPr>
        <p:spPr>
          <a:xfrm>
            <a:off x="1325421" y="5697125"/>
            <a:ext cx="4676296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7593116" y="5720938"/>
            <a:ext cx="4676296" cy="0"/>
          </a:xfrm>
          <a:prstGeom prst="line">
            <a:avLst/>
          </a:prstGeom>
          <a:ln cap="flat" w="47625">
            <a:solidFill>
              <a:srgbClr val="FFFFFF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22" id="22"/>
          <p:cNvSpPr txBox="true"/>
          <p:nvPr/>
        </p:nvSpPr>
        <p:spPr>
          <a:xfrm rot="0">
            <a:off x="598547" y="767116"/>
            <a:ext cx="12588695" cy="25336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597"/>
              </a:lnSpc>
              <a:spcBef>
                <a:spcPct val="0"/>
              </a:spcBef>
            </a:pPr>
            <a:r>
              <a:rPr lang="en-US" sz="5498">
                <a:solidFill>
                  <a:srgbClr val="051D40"/>
                </a:solidFill>
                <a:latin typeface="Poppins"/>
                <a:ea typeface="Poppins"/>
                <a:cs typeface="Poppins"/>
                <a:sym typeface="Poppins"/>
              </a:rPr>
              <a:t>FALTA DE ALINEACIÓN ENTRE LOS REQUISITOS Y LOS OBJETIVOS DEL NEGOCIO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98547" y="5969316"/>
            <a:ext cx="6294348" cy="30105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86"/>
              </a:lnSpc>
            </a:pPr>
            <a:r>
              <a:rPr lang="en-US" sz="2888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Una gestión deficiente puede derivar en malentendidos, errores costosos, retrasos y falta de alineación entre los objetivos del negocio y los requisitos del proyecto.</a:t>
            </a:r>
          </a:p>
          <a:p>
            <a:pPr algn="l" marL="0" indent="0" lvl="0">
              <a:lnSpc>
                <a:spcPts val="3986"/>
              </a:lnSpc>
              <a:spcBef>
                <a:spcPct val="0"/>
              </a:spcBef>
            </a:pPr>
          </a:p>
        </p:txBody>
      </p:sp>
      <p:sp>
        <p:nvSpPr>
          <p:cNvPr name="TextBox 24" id="24"/>
          <p:cNvSpPr txBox="true"/>
          <p:nvPr/>
        </p:nvSpPr>
        <p:spPr>
          <a:xfrm rot="0">
            <a:off x="1650145" y="5224079"/>
            <a:ext cx="4026849" cy="3815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057"/>
              </a:lnSpc>
              <a:spcBef>
                <a:spcPct val="0"/>
              </a:spcBef>
            </a:pPr>
            <a:r>
              <a:rPr lang="en-US" b="true" sz="2215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DESCRIPCIÓN GENERAL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7693540" y="5288101"/>
            <a:ext cx="4026849" cy="3852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  <a:spcBef>
                <a:spcPct val="0"/>
              </a:spcBef>
            </a:pPr>
            <a:r>
              <a:rPr lang="en-US" b="true" sz="2315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CONCEPTOS IMPORTANTES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-6286157" y="0"/>
            <a:ext cx="15430157" cy="10545890"/>
            <a:chOff x="0" y="0"/>
            <a:chExt cx="5508856" cy="3765081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1945B"/>
            </a:solidFill>
          </p:spPr>
        </p:sp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5508856" cy="3765081"/>
            </a:xfrm>
            <a:custGeom>
              <a:avLst/>
              <a:gdLst/>
              <a:ahLst/>
              <a:cxnLst/>
              <a:rect r="r" b="b" t="t" l="l"/>
              <a:pathLst>
                <a:path h="3765081" w="5508856">
                  <a:moveTo>
                    <a:pt x="0" y="0"/>
                  </a:moveTo>
                  <a:lnTo>
                    <a:pt x="3335085" y="0"/>
                  </a:lnTo>
                  <a:lnTo>
                    <a:pt x="5508856" y="3765081"/>
                  </a:lnTo>
                  <a:lnTo>
                    <a:pt x="2173770" y="37650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 l="0" t="-72004" r="-11111" b="-72004"/>
              </a:stretch>
            </a:blipFill>
          </p:spPr>
        </p:sp>
      </p:grpSp>
      <p:sp>
        <p:nvSpPr>
          <p:cNvPr name="TextBox 5" id="5"/>
          <p:cNvSpPr txBox="true"/>
          <p:nvPr/>
        </p:nvSpPr>
        <p:spPr>
          <a:xfrm rot="0">
            <a:off x="5944113" y="3984806"/>
            <a:ext cx="9352790" cy="105703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7884"/>
              </a:lnSpc>
              <a:spcBef>
                <a:spcPct val="0"/>
              </a:spcBef>
            </a:pPr>
            <a:r>
              <a:rPr lang="en-US" sz="6570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POSIBLES SOLUCIONES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6901587" y="5155937"/>
            <a:ext cx="6542245" cy="13862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713"/>
              </a:lnSpc>
            </a:pPr>
            <a:r>
              <a:rPr lang="en-US" sz="2690" spc="263">
                <a:solidFill>
                  <a:srgbClr val="F5FFF5"/>
                </a:solidFill>
                <a:latin typeface="DM Sans"/>
                <a:ea typeface="DM Sans"/>
                <a:cs typeface="DM Sans"/>
                <a:sym typeface="DM Sans"/>
              </a:rPr>
              <a:t>planteamos 3 posibles soluciones para la falta de alineación entre los requisitos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-2622339" y="7919689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79"/>
                </a:lnTo>
                <a:lnTo>
                  <a:pt x="0" y="55963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-10800000">
            <a:off x="13367400" y="-2798190"/>
            <a:ext cx="6452848" cy="5596379"/>
          </a:xfrm>
          <a:custGeom>
            <a:avLst/>
            <a:gdLst/>
            <a:ahLst/>
            <a:cxnLst/>
            <a:rect r="r" b="b" t="t" l="l"/>
            <a:pathLst>
              <a:path h="5596379" w="6452848">
                <a:moveTo>
                  <a:pt x="0" y="0"/>
                </a:moveTo>
                <a:lnTo>
                  <a:pt x="6452849" y="0"/>
                </a:lnTo>
                <a:lnTo>
                  <a:pt x="6452849" y="5596380"/>
                </a:lnTo>
                <a:lnTo>
                  <a:pt x="0" y="5596380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7259300" y="8127303"/>
            <a:ext cx="1802889" cy="1802889"/>
          </a:xfrm>
          <a:custGeom>
            <a:avLst/>
            <a:gdLst/>
            <a:ahLst/>
            <a:cxnLst/>
            <a:rect r="r" b="b" t="t" l="l"/>
            <a:pathLst>
              <a:path h="1802889" w="1802889">
                <a:moveTo>
                  <a:pt x="0" y="0"/>
                </a:moveTo>
                <a:lnTo>
                  <a:pt x="1802889" y="0"/>
                </a:lnTo>
                <a:lnTo>
                  <a:pt x="1802889" y="1802889"/>
                </a:lnTo>
                <a:lnTo>
                  <a:pt x="0" y="180288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9483391" y="2229631"/>
            <a:ext cx="1659925" cy="1659925"/>
          </a:xfrm>
          <a:custGeom>
            <a:avLst/>
            <a:gdLst/>
            <a:ahLst/>
            <a:cxnLst/>
            <a:rect r="r" b="b" t="t" l="l"/>
            <a:pathLst>
              <a:path h="1659925" w="1659925">
                <a:moveTo>
                  <a:pt x="0" y="0"/>
                </a:moveTo>
                <a:lnTo>
                  <a:pt x="1659925" y="0"/>
                </a:lnTo>
                <a:lnTo>
                  <a:pt x="1659925" y="1659925"/>
                </a:lnTo>
                <a:lnTo>
                  <a:pt x="0" y="1659925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227600" y="0"/>
            <a:ext cx="4430913" cy="10287000"/>
          </a:xfrm>
          <a:custGeom>
            <a:avLst/>
            <a:gdLst/>
            <a:ahLst/>
            <a:cxnLst/>
            <a:rect r="r" b="b" t="t" l="l"/>
            <a:pathLst>
              <a:path h="10287000" w="4430913">
                <a:moveTo>
                  <a:pt x="0" y="0"/>
                </a:moveTo>
                <a:lnTo>
                  <a:pt x="4430913" y="0"/>
                </a:lnTo>
                <a:lnTo>
                  <a:pt x="4430913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901" r="-57468" b="-901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-5993373" y="-5458262"/>
            <a:ext cx="10196686" cy="10196686"/>
          </a:xfrm>
          <a:custGeom>
            <a:avLst/>
            <a:gdLst/>
            <a:ahLst/>
            <a:cxnLst/>
            <a:rect r="r" b="b" t="t" l="l"/>
            <a:pathLst>
              <a:path h="10196686" w="10196686">
                <a:moveTo>
                  <a:pt x="0" y="0"/>
                </a:moveTo>
                <a:lnTo>
                  <a:pt x="10196686" y="0"/>
                </a:lnTo>
                <a:lnTo>
                  <a:pt x="10196686" y="10196685"/>
                </a:lnTo>
                <a:lnTo>
                  <a:pt x="0" y="1019668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29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14697329" y="6667836"/>
            <a:ext cx="8414387" cy="8414387"/>
          </a:xfrm>
          <a:custGeom>
            <a:avLst/>
            <a:gdLst/>
            <a:ahLst/>
            <a:cxnLst/>
            <a:rect r="r" b="b" t="t" l="l"/>
            <a:pathLst>
              <a:path h="8414387" w="8414387">
                <a:moveTo>
                  <a:pt x="0" y="0"/>
                </a:moveTo>
                <a:lnTo>
                  <a:pt x="8414387" y="0"/>
                </a:lnTo>
                <a:lnTo>
                  <a:pt x="8414387" y="8414387"/>
                </a:lnTo>
                <a:lnTo>
                  <a:pt x="0" y="8414387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29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5" id="5"/>
          <p:cNvGrpSpPr/>
          <p:nvPr/>
        </p:nvGrpSpPr>
        <p:grpSpPr>
          <a:xfrm rot="0">
            <a:off x="4325723" y="322907"/>
            <a:ext cx="1069997" cy="1069997"/>
            <a:chOff x="0" y="0"/>
            <a:chExt cx="812800" cy="81280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4325723" y="3241005"/>
            <a:ext cx="1069997" cy="1069997"/>
            <a:chOff x="0" y="0"/>
            <a:chExt cx="812800" cy="8128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264518" y="6333022"/>
            <a:ext cx="1069997" cy="1069997"/>
            <a:chOff x="0" y="0"/>
            <a:chExt cx="812800" cy="81280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51D40"/>
            </a:solidFill>
          </p:spPr>
        </p:sp>
        <p:sp>
          <p:nvSpPr>
            <p:cNvPr name="TextBox 13" id="13"/>
            <p:cNvSpPr txBox="true"/>
            <p:nvPr/>
          </p:nvSpPr>
          <p:spPr>
            <a:xfrm>
              <a:off x="76200" y="47625"/>
              <a:ext cx="660400" cy="6889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1639"/>
                </a:lnSpc>
              </a:pPr>
            </a:p>
          </p:txBody>
        </p:sp>
      </p:grpSp>
      <p:sp>
        <p:nvSpPr>
          <p:cNvPr name="Freeform 14" id="14"/>
          <p:cNvSpPr/>
          <p:nvPr/>
        </p:nvSpPr>
        <p:spPr>
          <a:xfrm flipH="false" flipV="false" rot="0">
            <a:off x="16329530" y="8441743"/>
            <a:ext cx="1760061" cy="1692859"/>
          </a:xfrm>
          <a:custGeom>
            <a:avLst/>
            <a:gdLst/>
            <a:ahLst/>
            <a:cxnLst/>
            <a:rect r="r" b="b" t="t" l="l"/>
            <a:pathLst>
              <a:path h="1692859" w="1760061">
                <a:moveTo>
                  <a:pt x="0" y="0"/>
                </a:moveTo>
                <a:lnTo>
                  <a:pt x="1760062" y="0"/>
                </a:lnTo>
                <a:lnTo>
                  <a:pt x="1760062" y="1692859"/>
                </a:lnTo>
                <a:lnTo>
                  <a:pt x="0" y="169285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5" id="15"/>
          <p:cNvSpPr txBox="true"/>
          <p:nvPr/>
        </p:nvSpPr>
        <p:spPr>
          <a:xfrm rot="0">
            <a:off x="5520658" y="566893"/>
            <a:ext cx="11563320" cy="55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7"/>
              </a:lnSpc>
              <a:spcBef>
                <a:spcPct val="0"/>
              </a:spcBef>
            </a:pPr>
            <a:r>
              <a:rPr lang="en-US" sz="34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ESTABLECER UN COMITÉ DE ALINEACIÓN ESTRATÉGICA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5684687" y="1272902"/>
            <a:ext cx="11624525" cy="16595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469"/>
              </a:lnSpc>
              <a:spcBef>
                <a:spcPct val="0"/>
              </a:spcBef>
            </a:pPr>
            <a:r>
              <a:rPr lang="en-US" sz="323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Crear un comité compuesto por líderes de negocio y equipos técnicos para revisar y alinear requisitos con los objetivos estratégicos.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520658" y="3484992"/>
            <a:ext cx="12919575" cy="5534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37"/>
              </a:lnSpc>
              <a:spcBef>
                <a:spcPct val="0"/>
              </a:spcBef>
            </a:pPr>
            <a:r>
              <a:rPr lang="en-US" sz="3448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IMPLEMENTAR UN SISTEMA DE SEGUIMIENTO DE MÉTRICAS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5520658" y="6574100"/>
            <a:ext cx="11399290" cy="55926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4183"/>
              </a:lnSpc>
              <a:spcBef>
                <a:spcPct val="0"/>
              </a:spcBef>
            </a:pPr>
            <a:r>
              <a:rPr lang="en-US" sz="3486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REALIZAR REVISIONES PERIÓDICAS DE ALINEACIÓN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4264518" y="437367"/>
            <a:ext cx="1192407" cy="75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13"/>
              </a:lnSpc>
              <a:spcBef>
                <a:spcPct val="0"/>
              </a:spcBef>
            </a:pPr>
            <a:r>
              <a:rPr lang="en-US" b="true" sz="442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01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5684687" y="4290056"/>
            <a:ext cx="10149451" cy="165926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84"/>
              </a:lnSpc>
              <a:spcBef>
                <a:spcPct val="0"/>
              </a:spcBef>
            </a:pPr>
            <a:r>
              <a:rPr lang="en-US" sz="3249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Definir métricas clave (KPIs) que midan el progreso de los requisitos en relación con los objetivos del negocio.</a:t>
            </a:r>
          </a:p>
        </p:txBody>
      </p:sp>
      <p:sp>
        <p:nvSpPr>
          <p:cNvPr name="TextBox 21" id="21"/>
          <p:cNvSpPr txBox="true"/>
          <p:nvPr/>
        </p:nvSpPr>
        <p:spPr>
          <a:xfrm rot="0">
            <a:off x="4265782" y="3283089"/>
            <a:ext cx="1192407" cy="75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13"/>
              </a:lnSpc>
              <a:spcBef>
                <a:spcPct val="0"/>
              </a:spcBef>
            </a:pPr>
            <a:r>
              <a:rPr lang="en-US" b="true" sz="442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02</a:t>
            </a:r>
          </a:p>
        </p:txBody>
      </p:sp>
      <p:sp>
        <p:nvSpPr>
          <p:cNvPr name="TextBox 22" id="22"/>
          <p:cNvSpPr txBox="true"/>
          <p:nvPr/>
        </p:nvSpPr>
        <p:spPr>
          <a:xfrm rot="0">
            <a:off x="4203313" y="6447482"/>
            <a:ext cx="1192407" cy="75535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113"/>
              </a:lnSpc>
              <a:spcBef>
                <a:spcPct val="0"/>
              </a:spcBef>
            </a:pPr>
            <a:r>
              <a:rPr lang="en-US" b="true" sz="4429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03</a:t>
            </a:r>
          </a:p>
        </p:txBody>
      </p:sp>
      <p:sp>
        <p:nvSpPr>
          <p:cNvPr name="TextBox 23" id="23"/>
          <p:cNvSpPr txBox="true"/>
          <p:nvPr/>
        </p:nvSpPr>
        <p:spPr>
          <a:xfrm rot="0">
            <a:off x="5520658" y="7294018"/>
            <a:ext cx="11120421" cy="16507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21"/>
              </a:lnSpc>
              <a:spcBef>
                <a:spcPct val="0"/>
              </a:spcBef>
            </a:pPr>
            <a:r>
              <a:rPr lang="en-US" sz="3204">
                <a:solidFill>
                  <a:srgbClr val="000000"/>
                </a:solidFill>
                <a:latin typeface="DM Sans"/>
                <a:ea typeface="DM Sans"/>
                <a:cs typeface="DM Sans"/>
                <a:sym typeface="DM Sans"/>
              </a:rPr>
              <a:t>Programar revisiones regulares (mensuales o trimestrales) para evaluar si los requisitos siguen alineados con los objetivos del negocio.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45DA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3860032"/>
          </a:xfrm>
          <a:custGeom>
            <a:avLst/>
            <a:gdLst/>
            <a:ahLst/>
            <a:cxnLst/>
            <a:rect r="r" b="b" t="t" l="l"/>
            <a:pathLst>
              <a:path h="3860032" w="18288000">
                <a:moveTo>
                  <a:pt x="0" y="0"/>
                </a:moveTo>
                <a:lnTo>
                  <a:pt x="18288000" y="0"/>
                </a:lnTo>
                <a:lnTo>
                  <a:pt x="18288000" y="3860032"/>
                </a:lnTo>
                <a:lnTo>
                  <a:pt x="0" y="38600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07827" r="0" b="-107827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3186911" y="0"/>
            <a:ext cx="12114570" cy="10287000"/>
            <a:chOff x="0" y="0"/>
            <a:chExt cx="3190669" cy="270933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190669" cy="2709333"/>
            </a:xfrm>
            <a:custGeom>
              <a:avLst/>
              <a:gdLst/>
              <a:ahLst/>
              <a:cxnLst/>
              <a:rect r="r" b="b" t="t" l="l"/>
              <a:pathLst>
                <a:path h="2709333" w="3190669">
                  <a:moveTo>
                    <a:pt x="0" y="0"/>
                  </a:moveTo>
                  <a:lnTo>
                    <a:pt x="3190669" y="0"/>
                  </a:lnTo>
                  <a:lnTo>
                    <a:pt x="3190669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051D40">
                <a:alpha val="74902"/>
              </a:srgbClr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38100"/>
              <a:ext cx="3190669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05"/>
                </a:lnSpc>
              </a:pPr>
            </a:p>
          </p:txBody>
        </p:sp>
      </p:grpSp>
      <p:sp>
        <p:nvSpPr>
          <p:cNvPr name="AutoShape 6" id="6"/>
          <p:cNvSpPr/>
          <p:nvPr/>
        </p:nvSpPr>
        <p:spPr>
          <a:xfrm>
            <a:off x="5021151" y="6420312"/>
            <a:ext cx="8735422" cy="0"/>
          </a:xfrm>
          <a:prstGeom prst="line">
            <a:avLst/>
          </a:prstGeom>
          <a:ln cap="flat" w="47625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7" id="7"/>
          <p:cNvSpPr/>
          <p:nvPr/>
        </p:nvSpPr>
        <p:spPr>
          <a:xfrm>
            <a:off x="5121346" y="9282112"/>
            <a:ext cx="8735422" cy="0"/>
          </a:xfrm>
          <a:prstGeom prst="line">
            <a:avLst/>
          </a:prstGeom>
          <a:ln cap="flat" w="47625">
            <a:solidFill>
              <a:srgbClr val="145DA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8" id="8"/>
          <p:cNvSpPr txBox="true"/>
          <p:nvPr/>
        </p:nvSpPr>
        <p:spPr>
          <a:xfrm rot="0">
            <a:off x="5121346" y="1491866"/>
            <a:ext cx="8245699" cy="819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6047"/>
              </a:lnSpc>
              <a:spcBef>
                <a:spcPct val="0"/>
              </a:spcBef>
            </a:pPr>
            <a:r>
              <a:rPr lang="en-US" sz="5039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CONCLUCIONES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3186911" y="3649816"/>
            <a:ext cx="11854499" cy="128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Falta de herramientas adecuadas para la gestion de requisitos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4041217" y="4857164"/>
            <a:ext cx="9892791" cy="158536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5"/>
              </a:lnSpc>
              <a:spcBef>
                <a:spcPct val="0"/>
              </a:spcBef>
            </a:pPr>
            <a:r>
              <a:rPr lang="en-US" sz="2315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falta de herramientas adecuadas para la gestión de requisitos dificulta la organización, el seguimiento y la comunicación efectiva, lo que puede llevar a errores, retrasos y productos finales que no cumplen con las expectativas del cliente.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3186911" y="6528251"/>
            <a:ext cx="12114570" cy="128569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5185"/>
              </a:lnSpc>
              <a:spcBef>
                <a:spcPct val="0"/>
              </a:spcBef>
            </a:pPr>
            <a:r>
              <a:rPr lang="en-US" b="true" sz="3757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Falta de alineación entre los requisitos y los objetivos del negocio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5121346" y="7918725"/>
            <a:ext cx="8487670" cy="92831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759"/>
              </a:lnSpc>
              <a:spcBef>
                <a:spcPct val="0"/>
              </a:spcBef>
            </a:pPr>
            <a:r>
              <a:rPr lang="en-US" sz="2724">
                <a:solidFill>
                  <a:srgbClr val="FFFFFF"/>
                </a:solidFill>
                <a:latin typeface="DM Sans"/>
                <a:ea typeface="DM Sans"/>
                <a:cs typeface="DM Sans"/>
                <a:sym typeface="DM Sans"/>
              </a:rPr>
              <a:t>La alineación entre requisitos y objetivos del negocio es esencial para el éxito de los proyectos.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51D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16683520" y="1590911"/>
            <a:ext cx="2651835" cy="2651835"/>
          </a:xfrm>
          <a:custGeom>
            <a:avLst/>
            <a:gdLst/>
            <a:ahLst/>
            <a:cxnLst/>
            <a:rect r="r" b="b" t="t" l="l"/>
            <a:pathLst>
              <a:path h="2651835" w="2651835">
                <a:moveTo>
                  <a:pt x="0" y="0"/>
                </a:moveTo>
                <a:lnTo>
                  <a:pt x="2651835" y="0"/>
                </a:lnTo>
                <a:lnTo>
                  <a:pt x="2651835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" id="3"/>
          <p:cNvGrpSpPr>
            <a:grpSpLocks noChangeAspect="true"/>
          </p:cNvGrpSpPr>
          <p:nvPr/>
        </p:nvGrpSpPr>
        <p:grpSpPr>
          <a:xfrm rot="0">
            <a:off x="10637321" y="2636321"/>
            <a:ext cx="7650679" cy="7650679"/>
            <a:chOff x="0" y="0"/>
            <a:chExt cx="3331210" cy="3331210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3331210" cy="3331210"/>
            </a:xfrm>
            <a:custGeom>
              <a:avLst/>
              <a:gdLst/>
              <a:ahLst/>
              <a:cxnLst/>
              <a:rect r="r" b="b" t="t" l="l"/>
              <a:pathLst>
                <a:path h="3331210" w="3331210">
                  <a:moveTo>
                    <a:pt x="3331210" y="3331210"/>
                  </a:moveTo>
                  <a:lnTo>
                    <a:pt x="0" y="3331210"/>
                  </a:lnTo>
                  <a:cubicBezTo>
                    <a:pt x="0" y="1490980"/>
                    <a:pt x="1490980" y="0"/>
                    <a:pt x="3331210" y="0"/>
                  </a:cubicBezTo>
                  <a:lnTo>
                    <a:pt x="3331210" y="3331210"/>
                  </a:lnTo>
                  <a:close/>
                </a:path>
              </a:pathLst>
            </a:custGeom>
            <a:blipFill>
              <a:blip r:embed="rId4"/>
              <a:stretch>
                <a:fillRect l="-25000" t="0" r="-25000" b="0"/>
              </a:stretch>
            </a:blipFill>
          </p:spPr>
        </p:sp>
      </p:grpSp>
      <p:sp>
        <p:nvSpPr>
          <p:cNvPr name="Freeform 5" id="5"/>
          <p:cNvSpPr/>
          <p:nvPr/>
        </p:nvSpPr>
        <p:spPr>
          <a:xfrm flipH="false" flipV="false" rot="0">
            <a:off x="-789475" y="-570381"/>
            <a:ext cx="2651835" cy="2651835"/>
          </a:xfrm>
          <a:custGeom>
            <a:avLst/>
            <a:gdLst/>
            <a:ahLst/>
            <a:cxnLst/>
            <a:rect r="r" b="b" t="t" l="l"/>
            <a:pathLst>
              <a:path h="2651835" w="2651835">
                <a:moveTo>
                  <a:pt x="0" y="0"/>
                </a:moveTo>
                <a:lnTo>
                  <a:pt x="2651836" y="0"/>
                </a:lnTo>
                <a:lnTo>
                  <a:pt x="2651836" y="2651835"/>
                </a:lnTo>
                <a:lnTo>
                  <a:pt x="0" y="2651835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20999"/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4130935" y="5996997"/>
            <a:ext cx="4030430" cy="3576091"/>
          </a:xfrm>
          <a:custGeom>
            <a:avLst/>
            <a:gdLst/>
            <a:ahLst/>
            <a:cxnLst/>
            <a:rect r="r" b="b" t="t" l="l"/>
            <a:pathLst>
              <a:path h="3576091" w="4030430">
                <a:moveTo>
                  <a:pt x="0" y="0"/>
                </a:moveTo>
                <a:lnTo>
                  <a:pt x="4030431" y="0"/>
                </a:lnTo>
                <a:lnTo>
                  <a:pt x="4030431" y="3576091"/>
                </a:lnTo>
                <a:lnTo>
                  <a:pt x="0" y="3576091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2477075" y="4734954"/>
            <a:ext cx="10600272" cy="7408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6085"/>
              </a:lnSpc>
              <a:spcBef>
                <a:spcPct val="0"/>
              </a:spcBef>
            </a:pPr>
            <a:r>
              <a:rPr lang="en-US" b="true" sz="4409" strike="noStrike" u="none">
                <a:solidFill>
                  <a:srgbClr val="4BD1FB"/>
                </a:solidFill>
                <a:latin typeface="DM Sans Bold"/>
                <a:ea typeface="DM Sans Bold"/>
                <a:cs typeface="DM Sans Bold"/>
                <a:sym typeface="DM Sans Bold"/>
              </a:rPr>
              <a:t>Por  su atencion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2255514" y="3028091"/>
            <a:ext cx="10821834" cy="13122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9753"/>
              </a:lnSpc>
              <a:spcBef>
                <a:spcPct val="0"/>
              </a:spcBef>
            </a:pPr>
            <a:r>
              <a:rPr lang="en-US" sz="8127" strike="noStrike" u="non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GRACIAS A TODOS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DAGfgrnXrIo</dc:identifier>
  <dcterms:modified xsi:type="dcterms:W3CDTF">2011-08-01T06:04:30Z</dcterms:modified>
  <cp:revision>1</cp:revision>
  <dc:title>Presentación propuesta de proyecto de la empresa corporativo moderno azul</dc:title>
</cp:coreProperties>
</file>